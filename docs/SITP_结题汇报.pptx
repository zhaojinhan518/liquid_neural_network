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638544"/>
          </a:xfrm>
          <a:prstGeom prst="rect">
            <a:avLst/>
          </a:prstGeom>
          <a:solidFill>
            <a:srgbClr val="90E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1247120" cy="5029200"/>
          </a:xfrm>
          <a:prstGeom prst="rect">
            <a:avLst/>
          </a:prstGeom>
          <a:solidFill>
            <a:srgbClr val="06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微软雅黑"/>
              </a:rPr>
              <a:t>液态神经网络与普通神经网络的对比研究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057400"/>
            <a:ext cx="1005840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0E0EF"/>
                </a:solidFill>
                <a:latin typeface="微软雅黑"/>
              </a:rPr>
              <a:t>Comparative Study of Liquid Neural Networks and Conventional Neural Networks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880360"/>
            <a:ext cx="35661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907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微软雅黑"/>
              </a:rPr>
              <a:t>同济大学大学生创新训练项目（SITP）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52044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E9FF"/>
                </a:solidFill>
                <a:latin typeface="微软雅黑"/>
              </a:rPr>
              <a:t>团队成员：陈山璞  韩兆津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95935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E9FF"/>
                </a:solidFill>
                <a:latin typeface="微软雅黑"/>
              </a:rPr>
              <a:t>指导单位：同济大学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398264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E9FF"/>
                </a:solidFill>
                <a:latin typeface="微软雅黑"/>
              </a:rPr>
              <a:t>研究周期：2025 年 4 月 — 2026 年 4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83717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E9FF"/>
                </a:solidFill>
                <a:latin typeface="微软雅黑"/>
              </a:rPr>
              <a:t>汇报日期：2026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项目背景与意义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63239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063239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83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7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研究目标与创新点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892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技术方案：液态神经网络原理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554480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1554480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8745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实验设计（7 项实验）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063239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063239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3383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7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核心实验结果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572000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4572000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892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892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综合分析与核心发现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1554480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1554480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18745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项目成果与贡献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063239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3063239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3383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338327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挑战与未来展望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4572000"/>
            <a:ext cx="3429000" cy="1234440"/>
          </a:xfrm>
          <a:prstGeom prst="rect">
            <a:avLst/>
          </a:prstGeom>
          <a:solidFill>
            <a:srgbClr val="04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63840" y="4572000"/>
            <a:ext cx="548640" cy="1234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4892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微软雅黑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4892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参考文献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01  项目背景与意义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Background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120640"/>
          </a:xfrm>
          <a:prstGeom prst="rect">
            <a:avLst/>
          </a:prstGeom>
          <a:solidFill>
            <a:srgbClr val="06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微软雅黑"/>
              </a:rPr>
              <a:t>传统 RNN 的局限性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刚性动力学问题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0487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现实系统中存在时间尺度相差悬殊的多维动力学（如校园下课时人流激增），传统离散时间更新机制无法精确捕捉极短时窗内的急剧跳变。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不规则采样问题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07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传感器故障、网络丢包导致时间步不均匀，传统 RNN 等时间间隔假设在实际场景中频繁失效。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参数效率问题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56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传统 RNN 参数量随任务复杂度快速增长，在资源受限的边缘计算场景中难以部署。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760720" cy="5120640"/>
          </a:xfrm>
          <a:prstGeom prst="rect">
            <a:avLst/>
          </a:prstGeom>
          <a:solidFill>
            <a:srgbClr val="023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08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微软雅黑"/>
              </a:rPr>
              <a:t>液态神经网络（LNN）的突破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03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D48B"/>
                </a:solidFill>
                <a:latin typeface="微软雅黑"/>
              </a:rPr>
              <a:t>LTC（液态时间常数网络）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5146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  <a:latin typeface="微软雅黑"/>
              </a:rPr>
              <a:t>Hasani 等（AAAI 2021）提出，引入基于常微分方程（ODE）的连续时间动力学，从数学层面原生支持不规则采样和刚性系统建模。时间常数 τ 随输入信号自适应调整。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639312"/>
            <a:ext cx="5303520" cy="36576"/>
          </a:xfrm>
          <a:prstGeom prst="rect">
            <a:avLst/>
          </a:prstGeom>
          <a:solidFill>
            <a:srgbClr val="90E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7490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D48B"/>
                </a:solidFill>
                <a:latin typeface="微软雅黑"/>
              </a:rPr>
              <a:t>CfC（闭合形式连续时间网络）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1605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  <a:latin typeface="微软雅黑"/>
              </a:rPr>
              <a:t>Hasani 等（Nature Machine Intelligence 2022）提出，通过解析求解 ODE 避免了数值迭代开销，将推理延迟从 ~20 ms（LTC）降至 ~5.8 ms，同时保留连续时间动力学特性。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303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微软雅黑"/>
              </a:rPr>
              <a:t>🔬 本项目目标：系统量化对比 LNN 与传统 RNN 的性能差异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02  研究目标与创新点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Objectives &amp; Innovations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512064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微软雅黑"/>
              </a:rPr>
              <a:t>研究目标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理论梳理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系统整理 LTC、CfC 的 ODE 数学原理，与 LSTM/GRU/RNN 门控机制进行理论对比。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代码实现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基于 PyTorch + ncps 库，构建五种模型的统一接口（src/models/registry.py）。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多任务实验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7083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覆盖七类任务：时序预测 × 4、序列分类、鲁棒性评估、强化学习控制。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创新应用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7667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将 CfC 首次应用于同济大学校园人流预测，验证刚性/缺失场景的优越性。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微软雅黑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35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开源贡献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8251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提供完整中文文档 + 可复现代码，降低国内研究者学习门槛。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5577840" cy="5120640"/>
          </a:xfrm>
          <a:prstGeom prst="rect">
            <a:avLst/>
          </a:prstGeom>
          <a:solidFill>
            <a:srgbClr val="0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微软雅黑"/>
              </a:rPr>
              <a:t>创新点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011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系统性横向对比框架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37744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5 种模型 × 7 类实验任务，国内首个中文可复现液态网络对比基准。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2004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00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校园人流预测创新场景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5661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含 6 个刚性尖峰（σ=3 min）+ 15% 随机缺失的合成校园人流数据集。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3891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389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多维鲁棒性定量评估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5488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噪声注入（σ∈{0.00, 0.01, 0.05}）+ 推理延迟（CPU×200次）+ R² 综合画像。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5778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5778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全链路工程规范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94360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C1"/>
                </a:solidFill>
                <a:latin typeface="微软雅黑"/>
              </a:rPr>
              <a:t>固定种子(42)、超参数日志、一键运行，实验结果完全可复现。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03  技术方案：液态神经网络原理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LNN Architecture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2103120"/>
          </a:xfrm>
          <a:prstGeom prst="rect">
            <a:avLst/>
          </a:prstGeom>
          <a:solidFill>
            <a:srgbClr val="03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微软雅黑"/>
              </a:rPr>
              <a:t>LTC 状态方程（ODE）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  <a:latin typeface="微软雅黑"/>
              </a:rPr>
              <a:t>dx/dt  =  −[ 1/τ + f(x, I, θ) ] · x  +  f(x, I, 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  <a:latin typeface="微软雅黑"/>
              </a:rPr>
              <a:t>• x：神经元状态     • τ：自适应时间常数
• f(x, I, θ)：输入驱动函数
• 信号剧变时 τ 自动缩短 → 快速响应
• 信号平缓时 τ 自动延长 → 惯性演化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5486400" cy="2011680"/>
          </a:xfrm>
          <a:prstGeom prst="rect">
            <a:avLst/>
          </a:prstGeom>
          <a:solidFill>
            <a:srgbClr val="0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2D48B"/>
                </a:solidFill>
                <a:latin typeface="微软雅黑"/>
              </a:rPr>
              <a:t>CfC 闭合形式近似（解析解）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24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微软雅黑"/>
              </a:rPr>
              <a:t>避免 ODE 数值迭代 → 推理速度提升约 3.4×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451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  <a:latin typeface="微软雅黑"/>
              </a:rPr>
              <a:t>• 保留连续时间动力学核心特性
• 推理延迟：LTC ~20 ms → CfC ~5.8 ms
• 反向传播更稳定，分类任务表现更优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微软雅黑"/>
              </a:rPr>
              <a:t>五种模型统一接口对比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011680"/>
            <a:ext cx="914400" cy="438912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0574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011680"/>
            <a:ext cx="1188720" cy="438912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057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2468880" cy="438912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核心特性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0" y="2011680"/>
            <a:ext cx="1097280" cy="438912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205740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参数量*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450592"/>
            <a:ext cx="91440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4963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LTC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450592"/>
            <a:ext cx="118872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496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液态 LNN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450592"/>
            <a:ext cx="246888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4963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ODE 连续时间动力学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0" y="2450592"/>
            <a:ext cx="109728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4200" y="249631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5,542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889504"/>
            <a:ext cx="91440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352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CfC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2889504"/>
            <a:ext cx="118872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9352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液态 LNN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889504"/>
            <a:ext cx="246888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293522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闭合形式 ODE，推理高效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0" y="2889504"/>
            <a:ext cx="109728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293522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21,025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328416"/>
            <a:ext cx="91440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374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LSTM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328416"/>
            <a:ext cx="118872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33741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传统 RNN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328416"/>
            <a:ext cx="246888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门控记忆，梯度稳定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3328416"/>
            <a:ext cx="109728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44200" y="337413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4,641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767328"/>
            <a:ext cx="91440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38130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GRU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3767328"/>
            <a:ext cx="118872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38130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传统 RNN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3767328"/>
            <a:ext cx="246888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3813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简化门控，参数较少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98480" y="3767328"/>
            <a:ext cx="109728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381304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3,489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4206240"/>
            <a:ext cx="91440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4251959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RNN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80" y="4206240"/>
            <a:ext cx="118872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42519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传统 RNN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4206240"/>
            <a:ext cx="246888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75320" y="42519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基线，无门控机制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4206240"/>
            <a:ext cx="109728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44200" y="4251959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~2,600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47548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B2C1"/>
                </a:solidFill>
                <a:latin typeface="微软雅黑"/>
              </a:rPr>
              <a:t>* 鲁棒性评估实验（32 隐藏单元，回归任务）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5120640"/>
            <a:ext cx="5577840" cy="1417320"/>
          </a:xfrm>
          <a:prstGeom prst="rect">
            <a:avLst/>
          </a:prstGeom>
          <a:solidFill>
            <a:srgbClr val="0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B2C1"/>
                </a:solidFill>
                <a:latin typeface="微软雅黑"/>
              </a:rPr>
              <a:t># 统一调用方式（registry.py）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5532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  <a:latin typeface="Courier New"/>
              </a:rPr>
              <a:t>model = build_model("cfc", input_size=1, units=32, output_size=1)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8704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  <a:latin typeface="Courier New"/>
              </a:rPr>
              <a:t>output, hidden = model(x, hx)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6199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B2C1"/>
                </a:solidFill>
                <a:latin typeface="Courier New"/>
              </a:rPr>
              <a:t># x: (batch, seq_len, input_size)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04  实验设计总览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7 Experiments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" cy="64008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743200" cy="64008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实验任务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743200" cy="64008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数据集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560320" cy="64008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50876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对比模型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463040"/>
            <a:ext cx="3200400" cy="64008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核心指标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36576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48839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103120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1488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阻尼正弦波预测
（论文 Fig 6 复现）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103120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1488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合成正弦，1000 条，长度 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103120"/>
            <a:ext cx="256032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148839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LTC vs GRU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103120"/>
            <a:ext cx="32004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1488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MSE / 训练速度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43200"/>
            <a:ext cx="36576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7889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743200"/>
            <a:ext cx="27432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788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Walker2d 轨迹预测
（Section 4.1 复现）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743200"/>
            <a:ext cx="27432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788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合成/Minari，4800 条，17 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743200"/>
            <a:ext cx="256032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7889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LTC vs LSTM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743200"/>
            <a:ext cx="32004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MSE / 训练速度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83279"/>
            <a:ext cx="36576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428999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383279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42899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校园人流预测 ★
（SITP 创新模块）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3383279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342899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同济合成，60 天，15% 缺失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383279"/>
            <a:ext cx="256032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428999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CfC vs LSTM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3383279"/>
            <a:ext cx="32004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342899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MSE / 5-step 滚动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023360"/>
            <a:ext cx="36576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0690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023360"/>
            <a:ext cx="27432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69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多维鲁棒性评估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4023360"/>
            <a:ext cx="27432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4069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合成正弦，噪声注入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023360"/>
            <a:ext cx="256032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406908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CfC/LTC/LSTM/GRU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4023360"/>
            <a:ext cx="32004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4069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RMSE@σ / R² / 延迟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663440"/>
            <a:ext cx="36576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709159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663440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70915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金融时序预测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83280" y="4663440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470915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NASDAQ 对数收益率，5 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4663440"/>
            <a:ext cx="256032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72200" y="4709159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CfC/LSTM/GRU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4663440"/>
            <a:ext cx="32004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32520" y="47091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MSE / MAE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303519"/>
            <a:ext cx="36576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5349239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5303519"/>
            <a:ext cx="27432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53492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UCI HAR 分类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83280" y="5303519"/>
            <a:ext cx="27432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29000" y="53492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9 维传感器，6 类活动，128 步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0" y="5303519"/>
            <a:ext cx="256032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5349239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LTC/CfC/LSTM/GRU/RNN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5303519"/>
            <a:ext cx="3200400" cy="64008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32520" y="53492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准确率 / 参数量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943600"/>
            <a:ext cx="36576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59893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5943600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5989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CartPole RL 控制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83280" y="5943600"/>
            <a:ext cx="27432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29000" y="5989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Gymnasium CartPole-v1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26480" y="5943600"/>
            <a:ext cx="256032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72200" y="5989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CfC vs LSTM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86800" y="5943600"/>
            <a:ext cx="3200400" cy="64008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32520" y="5989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最终奖励 / 收敛速度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0040" y="6217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微软雅黑"/>
              </a:rPr>
              <a:t>★ 创新应用场景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05a  实验一：阻尼正弦波预测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Exp 1 – Damped Sine Wave (Paper Fig 6 Reproduction)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3716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463040"/>
            <a:ext cx="164592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508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隐藏单元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2860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测试 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463040"/>
            <a:ext cx="18288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508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参数量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463040"/>
            <a:ext cx="22860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508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训练时间/轮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65960"/>
            <a:ext cx="13716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11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LTC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1965960"/>
            <a:ext cx="164592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2011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96596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1.496×10⁻⁴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96596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5,380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96596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10.28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68880"/>
            <a:ext cx="13716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GRU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2468880"/>
            <a:ext cx="164592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3080" y="2514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46888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1.287×10⁻⁴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468880"/>
            <a:ext cx="18288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3,393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246888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0.57 s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微软雅黑"/>
              </a:rPr>
              <a:t>关键发现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246120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24612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GRU（MSE=1.287×10⁻⁴）略优于 LTC（MSE=1.496×10⁻⁴）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776472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776472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合成正弦波为规则平滑信号，无刚性跳变 → GRU 门控机制足以高效建模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306824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306824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LTC 训练时间约为 GRU 的 18 倍（ODE 求解开销）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837176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83717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两模型均可捕捉衰减趋势；LTC 在衰减尾部（低幅段）拟合偏差略大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367528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36752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结论：液态网络优势在规则信号任务上尚不显著，核心价值体现于刚性/缺失场景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05b  实验二：Walker2d 轨迹预测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Exp 2 – Walker2d Trajectory (Paper Section 4.1 Reproduction)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3716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463040"/>
            <a:ext cx="164592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508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隐藏单元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2860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测试 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463040"/>
            <a:ext cx="18288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508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参数量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463040"/>
            <a:ext cx="22860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508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训练时间/轮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65960"/>
            <a:ext cx="13716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11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LTC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1965960"/>
            <a:ext cx="164592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2011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96596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0.08773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96596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26,180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96596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5.39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68880"/>
            <a:ext cx="13716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LSTM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2468880"/>
            <a:ext cx="164592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3080" y="2514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64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46888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0.02036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468880"/>
            <a:ext cx="18288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22,353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246888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0.20 s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微软雅黑"/>
              </a:rPr>
              <a:t>关键发现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24612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2461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LSTM（MSE=0.02036）显著优于 LTC（MSE=0.08773），差距约 4.3×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84048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8404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合成数据：均匀采样、无刚性跳变 → LSTM 离散门控具有优势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43484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4348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LTC 训练时间约为 LSTM 的 27 倍（ODE 数值迭代开销）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02920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292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结论：液态网络优势主要体现于刚性动力学和不规则采样场景，而非规则合成数据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05c  实验三：校园人流预测（SITP 创新模块）★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Exp 3 – Campus Pedestrian Flow Prediction (SITP Innovation)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2560320"/>
          </a:xfrm>
          <a:prstGeom prst="rect">
            <a:avLst/>
          </a:prstGeom>
          <a:solidFill>
            <a:srgbClr val="04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微软雅黑"/>
              </a:rPr>
              <a:t>数据集设计（同济合成）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• 模拟 60 天 × 5 分钟间隔人流数据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• 6 个下课时间点高斯尖峰（σ=3 min，峰值 ×1.5）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  → 10:00 / 11:45 / 13:30 / 15:15 / 17:00 / 18:30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• 15% 随机时间步缺失（掩码输入 [flow, mask]）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• 高斯观测噪声（σ=0.02）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• 序列长度 48 步（≈ 4 小时），训练 100 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1371600" cy="45720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4160520"/>
            <a:ext cx="1371600" cy="45720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缺失率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4160520"/>
            <a:ext cx="2286000" cy="45720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测试 MSE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160520"/>
            <a:ext cx="1828800" cy="45720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206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参数量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4160520"/>
            <a:ext cx="2103120" cy="45720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20624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训练时间/轮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17720"/>
            <a:ext cx="1371600" cy="45720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2D48B"/>
                </a:solidFill>
                <a:latin typeface="微软雅黑"/>
              </a:rPr>
              <a:t>CfC 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617720"/>
            <a:ext cx="1371600" cy="45720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4617720"/>
            <a:ext cx="2286000" cy="45720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79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2D48B"/>
                </a:solidFill>
                <a:latin typeface="微软雅黑"/>
              </a:rPr>
              <a:t>7.166×10⁻⁴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4617720"/>
            <a:ext cx="1828800" cy="45720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21,025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4617720"/>
            <a:ext cx="2103120" cy="45720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466344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11.58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74920"/>
            <a:ext cx="1371600" cy="45720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120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LSTM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5074920"/>
            <a:ext cx="1371600" cy="45720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83080" y="5120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5074920"/>
            <a:ext cx="2286000" cy="45720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79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1.628×10⁻³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5074920"/>
            <a:ext cx="1828800" cy="45720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5120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4,641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5074920"/>
            <a:ext cx="2103120" cy="45720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512064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1.21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1463040"/>
            <a:ext cx="5852160" cy="5074920"/>
          </a:xfrm>
          <a:prstGeom prst="rect">
            <a:avLst/>
          </a:prstGeom>
          <a:solidFill>
            <a:srgbClr val="0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15544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微软雅黑"/>
              </a:rPr>
              <a:t>为什么 CfC 胜出？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057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057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刚性动力学建模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441448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CfC 连续时间 ODE 通过自适应 τ 精确捕捉下课铃引发的瞬间人流激增；LSTM 离散门控对每时间步一视同仁，难以区分平稳段与突变段。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3355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缺失数据处理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3739896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τ 在数据缺失（mask=0）时自动延长，状态以惯性方式平滑演化，实现隐式插值；LSTM 仅将掩码作为普通输入特征。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6542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微软雅黑"/>
              </a:rPr>
              <a:t>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6542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5-step 滚动预测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038344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自回归递推中 CfC 误差积累速度明显慢于 LSTM，连续时间动力学数值更稳定。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5577840"/>
            <a:ext cx="5852160" cy="594360"/>
          </a:xfrm>
          <a:prstGeom prst="rect">
            <a:avLst/>
          </a:prstGeom>
          <a:solidFill>
            <a:srgbClr val="006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564184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CfC 的测试 MSE 仅为 LSTM 的 44%，性能提升超过一倍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05d  实验四：多维鲁棒性评估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Exp 4 – Multi-Dimensional Robustness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097280" cy="47548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463040"/>
            <a:ext cx="1280160" cy="47548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508760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参数量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463040"/>
            <a:ext cx="1828800" cy="47548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5087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推理延迟 (ms)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463040"/>
            <a:ext cx="1828800" cy="47548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087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RMSE (σ=0.00)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1828800" cy="47548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RMSE (σ=0.01)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1828800" cy="47548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5087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RMSE (σ=0.05)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1463040"/>
            <a:ext cx="1737360" cy="47548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150876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R² 评分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38528"/>
            <a:ext cx="109728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98424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CfC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1938528"/>
            <a:ext cx="128016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1984248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21,025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938528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79" y="19842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5.775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1938528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9842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0.02900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938528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842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0.03049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938528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19842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0.06422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1938528"/>
            <a:ext cx="173736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198424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0.9669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414016"/>
            <a:ext cx="109728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45973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LTC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2414016"/>
            <a:ext cx="128016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2459736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5,542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414016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79" y="24597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19.791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2414016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24597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0.03394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414016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4597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0.03507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414016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24597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0.06080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2414016"/>
            <a:ext cx="173736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245973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0.9547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889504"/>
            <a:ext cx="109728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293522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E0EF"/>
                </a:solidFill>
                <a:latin typeface="微软雅黑"/>
              </a:rPr>
              <a:t>GRU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2889504"/>
            <a:ext cx="128016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20" y="293522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3,489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2889504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79" y="29352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0.825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80560" y="2889504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29352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0.03722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2889504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29352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0.03818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2889504"/>
            <a:ext cx="182880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29352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0.05729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2889504"/>
            <a:ext cx="1737360" cy="47548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293522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0.9455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364992"/>
            <a:ext cx="109728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341071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LSTM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3364992"/>
            <a:ext cx="128016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7320" y="3410712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4,641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51760" y="3364992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79" y="3410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0.261 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3364992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26280" y="3410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0.03994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3364992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80" y="3410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0.04091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3364992"/>
            <a:ext cx="182880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83880" y="3410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0.05828 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66960" y="3364992"/>
            <a:ext cx="1737360" cy="47548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12680" y="3410712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0.9372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404164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微软雅黑"/>
              </a:rPr>
              <a:t>三维分析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498848"/>
            <a:ext cx="1828800" cy="548640"/>
          </a:xfrm>
          <a:prstGeom prst="rect">
            <a:avLst/>
          </a:prstGeom>
          <a:solidFill>
            <a:srgbClr val="00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4590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准确性（洁净）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94560" y="454456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CfC（RMSE=0.029，R²=0.967）&gt; LTC &gt; GRU &gt; LSTM —— 液态网络整体优于传统 RNN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157216"/>
            <a:ext cx="1828800" cy="548640"/>
          </a:xfrm>
          <a:prstGeom prst="rect">
            <a:avLst/>
          </a:prstGeom>
          <a:solidFill>
            <a:srgbClr val="00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524865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高噪声鲁棒性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94560" y="5202936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σ=0.05 时，GRU/LSTM 误差增幅反而低于 CfC/LTC —— 门控低通滤波效果；液态网络优势在刚性跳变而非纯随机噪声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15583"/>
            <a:ext cx="1828800" cy="548640"/>
          </a:xfrm>
          <a:prstGeom prst="rect">
            <a:avLst/>
          </a:prstGeom>
          <a:solidFill>
            <a:srgbClr val="00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推理延迟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4560" y="5861303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LSTM（0.261 ms）&lt; GRU（0.825 ms）&lt; CfC（5.775 ms）&lt; LTC（19.791 ms）—— CfC 是液态网络中延迟最优选择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05e  实验五～七：金融预测 / UCI HAR / CartPole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Exp 5–7 – Finance / HAR Classification / Reinforcement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94760" cy="2560320"/>
          </a:xfrm>
          <a:prstGeom prst="rect">
            <a:avLst/>
          </a:prstGeom>
          <a:solidFill>
            <a:srgbClr val="04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实验五：金融时序预测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1097280" cy="38404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2039112"/>
            <a:ext cx="10058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19" y="1993392"/>
            <a:ext cx="1371600" cy="38404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39" y="2039112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测试 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993392"/>
            <a:ext cx="1188720" cy="38404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2039112"/>
            <a:ext cx="10972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测试 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1097280" cy="38404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2423160"/>
            <a:ext cx="10058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CfC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19" y="2377440"/>
            <a:ext cx="1371600" cy="38404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39" y="2423160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1.0833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377440"/>
            <a:ext cx="1188720" cy="38404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2423160"/>
            <a:ext cx="10972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0.8319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61488"/>
            <a:ext cx="1097280" cy="38404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807208"/>
            <a:ext cx="10058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LSTM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19" y="2761488"/>
            <a:ext cx="1371600" cy="38404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39" y="2807208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1.0783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2761488"/>
            <a:ext cx="1188720" cy="38404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39" y="2807208"/>
            <a:ext cx="10972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0.8309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45536"/>
            <a:ext cx="1097280" cy="38404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3191256"/>
            <a:ext cx="10058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GRU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19" y="3145536"/>
            <a:ext cx="1371600" cy="38404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39" y="3191256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1.0778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3145536"/>
            <a:ext cx="1188720" cy="38404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39" y="3191256"/>
            <a:ext cx="10972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0.8307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063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三种模型性能高度接近（Δ&lt;0.006）
金融序列接近随机游走 → LNN 额外代价
难以转化为性能增益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1463040"/>
            <a:ext cx="4206240" cy="2560320"/>
          </a:xfrm>
          <a:prstGeom prst="rect">
            <a:avLst/>
          </a:prstGeom>
          <a:solidFill>
            <a:srgbClr val="03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1554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实验六：UCI HAR 分类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1993392"/>
            <a:ext cx="1188720" cy="33832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203911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1993392"/>
            <a:ext cx="1371600" cy="33832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203911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准确率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80" y="1993392"/>
            <a:ext cx="1508760" cy="338328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2039112"/>
            <a:ext cx="14173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参数量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2331720"/>
            <a:ext cx="118872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23774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CfC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331720"/>
            <a:ext cx="137160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23774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100.0%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2331720"/>
            <a:ext cx="150876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377440"/>
            <a:ext cx="14173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23,142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2670048"/>
            <a:ext cx="1188720" cy="33832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0" y="271576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LSTM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670048"/>
            <a:ext cx="1371600" cy="33832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271576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100.0%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2670048"/>
            <a:ext cx="1508760" cy="33832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2715768"/>
            <a:ext cx="14173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6,758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60" y="3008376"/>
            <a:ext cx="118872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30540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GRU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3008376"/>
            <a:ext cx="137160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0" y="30540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100.0%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12280" y="3008376"/>
            <a:ext cx="150876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3054096"/>
            <a:ext cx="14173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5,382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0" y="3346704"/>
            <a:ext cx="1188720" cy="33832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339242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RNN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3346704"/>
            <a:ext cx="1371600" cy="33832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33924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D48B"/>
                </a:solidFill>
                <a:latin typeface="微软雅黑"/>
              </a:rPr>
              <a:t>100.0% 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12280" y="3346704"/>
            <a:ext cx="1508760" cy="338328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3392424"/>
            <a:ext cx="14173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2,630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51960" y="3685032"/>
            <a:ext cx="118872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0" y="373075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6B"/>
                </a:solidFill>
                <a:latin typeface="微软雅黑"/>
              </a:rPr>
              <a:t>LTC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3685032"/>
            <a:ext cx="137160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0" y="373075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6B"/>
                </a:solidFill>
                <a:latin typeface="微软雅黑"/>
              </a:rPr>
              <a:t>36.9% 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80" y="3685032"/>
            <a:ext cx="1508760" cy="338328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3730752"/>
            <a:ext cx="14173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6,936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7680" y="365760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LTC 仅 36.9%（欠拟合）：
规则信号 + CPU 时间限制 → 训练不足
RNN 参数效率最高（2,630，100%）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463040"/>
            <a:ext cx="3383280" cy="2560320"/>
          </a:xfrm>
          <a:prstGeom prst="rect">
            <a:avLst/>
          </a:prstGeom>
          <a:solidFill>
            <a:srgbClr val="0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953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实验七：CartPole RL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49640" y="1993392"/>
            <a:ext cx="1371600" cy="438912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0" y="20391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21240" y="1993392"/>
            <a:ext cx="1920240" cy="438912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2039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最终奖励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49640" y="2432304"/>
            <a:ext cx="137160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95360" y="24780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CfC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21240" y="2432304"/>
            <a:ext cx="1920240" cy="438912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66960" y="2478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D48B"/>
                </a:solidFill>
                <a:latin typeface="微软雅黑"/>
              </a:rPr>
              <a:t>24.0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49640" y="2871216"/>
            <a:ext cx="137160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95360" y="29169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LSTM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21240" y="2871216"/>
            <a:ext cx="1920240" cy="438912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66960" y="2916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16.0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CfC 奖励优于 LSTM
两者均未达到解决阈值（≥195）
REINFORCE 高方差 → 结论需更多实验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16052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429768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微软雅黑"/>
              </a:rPr>
              <a:t>横向小结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47548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4754880"/>
            <a:ext cx="11338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金融预测：随机游走信号，三模型趋同，LNN 参数代价难以转化为增益（适合轻量 GRU）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52578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5257800"/>
            <a:ext cx="11338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UCI HAR：规则传感器信号，CfC/LSTM/GRU/RNN 全达 100%，LTC 受训练效率拖累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" y="576072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5760720"/>
            <a:ext cx="11338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CartPole RL：CfC 策略网络初步展示连续控制潜力，需低方差算法（PPO）进一步验证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06  综合分析：液态网络的优势边界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Core Findings – When Does LNN Win?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486400" cy="5074920"/>
          </a:xfrm>
          <a:prstGeom prst="rect">
            <a:avLst/>
          </a:prstGeom>
          <a:solidFill>
            <a:srgbClr val="023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2D48B"/>
                </a:solidFill>
                <a:latin typeface="微软雅黑"/>
              </a:rPr>
              <a:t>✅  LNN 显著优势场景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214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D48B"/>
                </a:solidFill>
                <a:latin typeface="微软雅黑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刚性动力学建模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下课铃人流激增等突发尖峰 → CfC 误差约为 LSTM 的 44%（实验三）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729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D48B"/>
                </a:solidFill>
                <a:latin typeface="微软雅黑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不规则采样 / 传感器缺失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57015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时间常数 τ 内置缺失感知机制 → 优于 LSTM 的普通掩码处理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24527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D48B"/>
                </a:solidFill>
                <a:latin typeface="微软雅黑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最高拟合精度（洁净数据）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08575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RMSE 和 R² 均优于全部传统 RNN（实验四：R²=0.967）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760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D48B"/>
                </a:solidFill>
                <a:latin typeface="微软雅黑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连续控制任务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013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CartPole RL 中 CfC 期望奖励高于 LSTM（实验七）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63040"/>
            <a:ext cx="5669280" cy="5074920"/>
          </a:xfrm>
          <a:prstGeom prst="rect">
            <a:avLst/>
          </a:prstGeom>
          <a:solidFill>
            <a:srgbClr val="38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  <a:latin typeface="微软雅黑"/>
              </a:rPr>
              <a:t>⚠️  传统 RNN 表现更优场景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214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微软雅黑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21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规则采样、无刚性跳变的合成数据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0545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Walker2d 合成数据：LSTM MSE 约为 LTC 的 23%（实验二）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729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微软雅黑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172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随机游走类金融序列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5701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NASDAQ 预测三模型趋同，LNN 高参数量无额外增益（实验五）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24527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微软雅黑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2452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推理延迟敏感的边缘部署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60857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LSTM 仅 0.261 ms vs LTC 19.791 ms，约快 76 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2760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微软雅黑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76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计算资源严格受限场景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660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GRU/LSTM 参数量少、训练速度快；LTC 训练耗时高出 10–50 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510528"/>
            <a:ext cx="11521440" cy="2286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06b  CfC vs LTC：液态网络内部对比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CfC vs LTC – Within LNN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08760"/>
            <a:ext cx="32004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554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508760"/>
            <a:ext cx="22860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CfC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08760"/>
            <a:ext cx="22860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LTC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508760"/>
            <a:ext cx="18288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胜出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011680"/>
            <a:ext cx="32004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推理延迟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01168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057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5.775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01168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057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19.791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01168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057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CfC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514600"/>
            <a:ext cx="32004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2560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分类准确率（UCI HAR）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51460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560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100.0%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51460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2560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36.9%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514600"/>
            <a:ext cx="18288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560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CfC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017520"/>
            <a:ext cx="32004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06323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鲁棒性 RMSE（洁净）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01752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0632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0.02900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01752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30632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0.03394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01752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063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CfC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3520440"/>
            <a:ext cx="32004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3566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R² 评分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52044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3566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0.9669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52044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3566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0.9547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520440"/>
            <a:ext cx="18288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35661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CfC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4023360"/>
            <a:ext cx="32004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4069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参数量（32 单元）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02336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069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21,025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023360"/>
            <a:ext cx="2286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069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5,542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402336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20" y="40690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LTC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4526280"/>
            <a:ext cx="32004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17320" y="4572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理论可解释性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452628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17720" y="4572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近似解析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4526280"/>
            <a:ext cx="2286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03720" y="4572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原始 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4526280"/>
            <a:ext cx="18288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4572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D48B"/>
                </a:solidFill>
                <a:latin typeface="微软雅黑"/>
              </a:rPr>
              <a:t>LTC 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956048"/>
            <a:ext cx="10058400" cy="1097280"/>
          </a:xfrm>
          <a:prstGeom prst="rect">
            <a:avLst/>
          </a:prstGeom>
          <a:solidFill>
            <a:srgbClr val="00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504748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综合结论：CfC 在性能和效率两个维度均优于 LTC，是液态网络系列中更具工程实用性的选择；LTC 因更接近生物神经元 ODE 原始形式，在理论研究和可解释性分析中仍具重要价值。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06c  参数效率分析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Parameter Efficiency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3716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508760"/>
            <a:ext cx="164592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554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参数量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508760"/>
            <a:ext cx="18288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相对 LSTM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508760"/>
            <a:ext cx="685800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55448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典型任务最优表现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13716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574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RNN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011680"/>
            <a:ext cx="164592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20574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~2,600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01168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057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0.56×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011680"/>
            <a:ext cx="6858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0574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UCI HAR：100% 准确率（最高参数效率）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13716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560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  <a:latin typeface="微软雅黑"/>
              </a:rPr>
              <a:t>GRU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2514600"/>
            <a:ext cx="164592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2560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3,489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514600"/>
            <a:ext cx="18288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560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0.75×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2514600"/>
            <a:ext cx="6858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5603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金融预测：MSE 最优；高噪声鲁棒性最佳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17520"/>
            <a:ext cx="13716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06323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LSTM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3017520"/>
            <a:ext cx="164592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30632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4,641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01752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3063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1.00×（基准）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3017520"/>
            <a:ext cx="6858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3063239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Walker2d：MSE 最优；推理延迟最低（0.261 ms）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520440"/>
            <a:ext cx="13716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LTC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7360" y="3520440"/>
            <a:ext cx="164592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83080" y="3566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5,542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520440"/>
            <a:ext cx="18288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35661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1.19×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520440"/>
            <a:ext cx="6858000" cy="502920"/>
          </a:xfrm>
          <a:prstGeom prst="rect">
            <a:avLst/>
          </a:prstGeom>
          <a:solidFill>
            <a:srgbClr val="04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35661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理论基准；校园流量下优于 LSTM（实验三除外）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023360"/>
            <a:ext cx="13716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069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2D48B"/>
                </a:solidFill>
                <a:latin typeface="微软雅黑"/>
              </a:rPr>
              <a:t>CfC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7360" y="4023360"/>
            <a:ext cx="164592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83080" y="4069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21,025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4023360"/>
            <a:ext cx="18288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40690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  <a:latin typeface="微软雅黑"/>
              </a:rPr>
              <a:t>4.53×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4023360"/>
            <a:ext cx="6858000" cy="502920"/>
          </a:xfrm>
          <a:prstGeom prst="rect">
            <a:avLst/>
          </a:prstGeom>
          <a:solidFill>
            <a:srgbClr val="06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406908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校园人流：MSE 仅 LSTM 的 44%；鲁棒性 R²=0.967 最优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343400"/>
            <a:ext cx="11430000" cy="1097280"/>
          </a:xfrm>
          <a:prstGeom prst="rect">
            <a:avLst/>
          </a:prstGeom>
          <a:solidFill>
            <a:srgbClr val="04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434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  <a:latin typeface="微软雅黑"/>
              </a:rPr>
              <a:t>💡 CfC 参数量约为 LSTM 的 4.5 倍，主要源于 ncps 库完整闭合形式参数矩阵。在性能显著优越的任务（如校园人流，误差减半）中这一代价合理；在性能相近的任务（如金融预测）中，较高参数量带来了不必要的计算和存储开销。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577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微软雅黑"/>
              </a:rPr>
              <a:t>选型建议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0350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035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刚性/缺失场景（校园人流、工业传感器）→ 首选 CfC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46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规则信号、延迟敏感 → 首选 LSTM / GRU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8580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858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参数极度受限 → 首选 RNN 或 GRU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72694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7269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理论研究 / 可解释性 → 首选 LTC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07  项目成果与贡献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Contributions &amp;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03320" cy="5029200"/>
          </a:xfrm>
          <a:prstGeom prst="rect">
            <a:avLst/>
          </a:prstGeom>
          <a:solidFill>
            <a:srgbClr val="04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0332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💻 代码成果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统一模型库（src/models/registry.py）：LTC/CfC/LSTM/GRU/RNN 五种模型统一接口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63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校园人流数据生成器（src/data/campus_flow.py）：可配置刚性尖峰、缺失率、噪声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七个独立实验脚本（experiments/）：时序回归 ×4、分类、鲁棒性、强化学习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749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一键运行入口（run_all.py）：完整模式 + 快速冒烟测试模式（--fast，5 轮）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463040"/>
            <a:ext cx="3703320" cy="5029200"/>
          </a:xfrm>
          <a:prstGeom prst="rect">
            <a:avLst/>
          </a:prstGeom>
          <a:solidFill>
            <a:srgbClr val="04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463040"/>
            <a:ext cx="370332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15361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📊 实验成果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2057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574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14 个 CSV 指标文件 + 15 幅可视化图表，全部保存至 results/ 子目录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063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63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首次将 CfC 应用于同济大学校园人流预测场景，MSE 降低约 56%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40690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完整四维性能画像：准确性（MSE/RMSE/MAE/R²/Acc）、效率、鲁棒性、推理速度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463040"/>
            <a:ext cx="3703320" cy="5029200"/>
          </a:xfrm>
          <a:prstGeom prst="rect">
            <a:avLst/>
          </a:prstGeom>
          <a:solidFill>
            <a:srgbClr val="04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463040"/>
            <a:ext cx="3703320" cy="5029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5361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📄 文档成果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057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0574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立项书（docs/proposal.md）：研究背景、目标、技术路线与实验设计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063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063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超参数日志（docs/SITP_Log.md）：逐实验全部超参数配置，保障可复现性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0690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0690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结题报告（docs/Final_Report_SITP.md）：学术规范组织的完整实验分析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0749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微软雅黑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07492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9FF"/>
                </a:solidFill>
                <a:latin typeface="微软雅黑"/>
              </a:rPr>
              <a:t>文献综述 + 学习笔记：为国内研究者提供中文液态神经网络学习资源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08  挑战与未来展望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Challenges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394960" cy="5074920"/>
          </a:xfrm>
          <a:prstGeom prst="rect">
            <a:avLst/>
          </a:prstGeom>
          <a:solidFill>
            <a:srgbClr val="0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  <a:latin typeface="微软雅黑"/>
              </a:rPr>
              <a:t>⚙️ 遇到的主要挑战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LTC 训练效率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ODE 数值求解导致训练时间比传统 RNN 高出 10–50 倍，UCI HAR 等大样本任务中严重限制可用数据量（最大 2000 条）。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微软雅黑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ncps 库接口限制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0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FullyConnected wiring 对分类任务适配性不如 AutoNCP；CfC 参数量显著高于理论预期，部分源于库的内部实现细节。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微软雅黑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强化学习高方差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73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REINFORCE 梯度方差大，CartPole 实验 500 episodes 内两种模型均未稳定达到解决阈值，难以得出强结论。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321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微软雅黑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真实数据获取困难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916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校园人流和 Walker2d 均依赖合成数据，真实数据获取存在工程和权限障碍。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463040"/>
            <a:ext cx="5852160" cy="5074920"/>
          </a:xfrm>
          <a:prstGeom prst="rect">
            <a:avLst/>
          </a:prstGeom>
          <a:solidFill>
            <a:srgbClr val="03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5544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微软雅黑"/>
              </a:rPr>
              <a:t>🚀 未来展望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031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103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接入真实校园数据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48716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对接同济大学门禁刷卡或摄像头视频人流统计，在真实传感器噪声和缺失条件下进一步验证 CfC 优势。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15467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546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进阶强化学习实验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538727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采用 PPO 等低方差算法，在 Walker2d 等连续控制环境中对比 LNN 与 LSTM 作为策略网络的性能。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062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206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NCP 稀疏架构探索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9028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引入 AutoNCP wiring，研究其在序列分类和控制任务上相对 FullyConnected LTC 的优势。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257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57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边缘部署优化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64184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探索 CfC 模型量化压缩（INT8/FP16），评估在树莓派等嵌入式设备上的实际部署可行性。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3093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微软雅黑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6309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多变量时序扩展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669340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拓展到气象、交通等高维多变量时序场景，评估液态网络在复杂时序依赖结构中的泛化能力。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09  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微软雅黑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554480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3619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Hasani, R. et al. (2021). Liquid Time-constant Networks. AAAI 2021, 35(9), 7657–7666.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057400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Hasani, R. et al. (2022). Closed-form Continuous-time Neural Networks. Nature Machine Intelligence, 4, 992–1003.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2560320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4203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Lechner, M. et al. (2020). Neural Circuit Policies Enabling Auditable Autonomy. Nature Machine Intelligence, 2, 642–652.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3063239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4495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arXiv:2510.07578v1 — 液态神经网络最新进展预印本. https://arxiv.org/abs/2510.07578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0439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3566159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4787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Hochreiter, S. &amp; Schmidhuber, J. (1997). Long Short-Term Memory. Neural Computation, 9(8), 1735–1780.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59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069079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5079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Cho, K. et al. (2014). Learning Phrase Representations using RNN Encoder-Decoder. EMNLP 2014.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26279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4571999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[7]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537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Elman, J. L. (1990). Finding Structure in Time. Cognitive Science, 14(2), 179–211.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29199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5074919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[8]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Williams, R. J. (1992). Simple Statistical Gradient-Following Algorithms for Connectionist RL. Machine Learning, 8, 229–256.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32119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5577839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微软雅黑"/>
              </a:rPr>
              <a:t>[9]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55955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  <a:latin typeface="微软雅黑"/>
              </a:rPr>
              <a:t>Anguita, D. et al. (2013). A Public Domain Dataset for Human Activity Recognition Using Smartphones. ESANN 2013.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638544"/>
          </a:xfrm>
          <a:prstGeom prst="rect">
            <a:avLst/>
          </a:prstGeom>
          <a:solidFill>
            <a:srgbClr val="90E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0332720" cy="5303520"/>
          </a:xfrm>
          <a:prstGeom prst="rect">
            <a:avLst/>
          </a:prstGeom>
          <a:solidFill>
            <a:srgbClr val="04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B4D8"/>
                </a:solidFill>
                <a:latin typeface="微软雅黑"/>
              </a:rPr>
              <a:t>感谢聆听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42316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90E0EF"/>
                </a:solidFill>
                <a:latin typeface="微软雅黑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/>
              </a:rPr>
              <a:t>液态神经网络与普通神经网络的对比研究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E9FF"/>
                </a:solidFill>
                <a:latin typeface="微软雅黑"/>
              </a:rPr>
              <a:t>同济大学 SITP 项目 ·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2C1"/>
                </a:solidFill>
                <a:latin typeface="微软雅黑"/>
              </a:rPr>
              <a:t>团队成员：陈山璞  韩兆津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5074920"/>
            <a:ext cx="5760720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51389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微软雅黑"/>
              </a:rPr>
              <a:t>欢迎提问与交流 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  <a:latin typeface="微软雅黑"/>
              </a:rPr>
              <a:t>🔗 https://github.com/ZhaoJinHan518/liquid_neural_network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